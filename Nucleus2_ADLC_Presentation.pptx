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-731520"/>
            <a:ext cx="3657600" cy="36576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5029200"/>
            <a:ext cx="2286000" cy="22860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2.0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Framework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292608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4436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specialist AI agents  ·  62 SDLC activities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(claude-opus-4-5 / claude-sonnet-4-5)  ·  Prompt Caching + Extended Thinking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canvas  ·  Live SSE streaming  ·  GitHub integration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Diamond Project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Zensar Technologies  · 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292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AI Agents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97480" y="502920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50292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Context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502920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50292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995160" y="502920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50292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0" y="5029200"/>
            <a:ext cx="1965960" cy="347472"/>
          </a:xfrm>
          <a:prstGeom prst="roundRect">
            <a:avLst>
              <a:gd name="adj" fmla="val 26316"/>
            </a:avLst>
          </a:prstGeom>
          <a:solidFill>
            <a:srgbClr val="1E1B4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50292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Streaming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720840"/>
            <a:ext cx="1219200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673912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Diamond Project  ·  Zensar Technologies  ·  CONFIDENTIAL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601200" y="67391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Zensar Technologies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109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Nucleus 2.0?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Innersource Agentic SDLC Platform — AMEX Diamond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11430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2.0 is an enterprise-grade AI platform that replaces manual SDLC hand-offs with a pipeline of 15 specialist agents — each owning one domain from requirements to production ops — powered by Anthropic Claude with prompt caching and Extended Thinking.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084832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2219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Orchestrated AI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" y="2587752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Orchestrator sequences all agents, manages stage gates and delivery risk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2084832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22219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Full SDLC Coverage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416552" y="2587752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→ Architecture → Code → Test → Release → Ops · 62 activities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83880" y="2084832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22219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Compliance-First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48472" y="2587752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PCI-DSS, SOX, HIPAA built into A02 Policy Agent — not bolted 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13632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40507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Live SSE Streaming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" y="4416552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output flows from Claude to Activity tab in real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3913632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40507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GitHub Native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16552" y="4416552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any repo, analyse it, push generated artefacts back to branches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83880" y="3913632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48472" y="40507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Visual Canvas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48472" y="4416552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agent nodes, wire pipelines, inspect configs — no YAML needed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720840"/>
            <a:ext cx="1219200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673912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Diamond Project  ·  Zensar Technologies  ·  CONFIDENTIAL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601200" y="67391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Zensar Technologies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109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Specialist AI Agents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per SDLC domain — all wired on the visual canvas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20700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20700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12070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60934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120700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20700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2070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160934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47488" y="120700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7488" y="120700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047488" y="12070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38928" y="160934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43216" y="120700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120700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443216" y="12070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34656" y="160934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838944" y="120700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38944" y="120700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9838944" y="12070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30384" y="160934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94436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4436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4338CA"/>
          </a:solidFill>
          <a:ln/>
        </p:spPr>
      </p:sp>
      <p:sp>
        <p:nvSpPr>
          <p:cNvPr id="29" name="Text 27"/>
          <p:cNvSpPr/>
          <p:nvPr/>
        </p:nvSpPr>
        <p:spPr>
          <a:xfrm>
            <a:off x="256032" y="29443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" y="334670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51760" y="294436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294436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2651760" y="29443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0" y="334670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BDD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47488" y="294436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47488" y="294436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047488" y="29443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38928" y="334670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43216" y="294436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294436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7443216" y="29443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534656" y="334670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838944" y="294436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38944" y="294436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6D28D9"/>
          </a:solidFill>
          <a:ln/>
        </p:spPr>
      </p:sp>
      <p:sp>
        <p:nvSpPr>
          <p:cNvPr id="45" name="Text 43"/>
          <p:cNvSpPr/>
          <p:nvPr/>
        </p:nvSpPr>
        <p:spPr>
          <a:xfrm>
            <a:off x="9838944" y="294436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930384" y="334670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468172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468172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256032" y="46817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47472" y="508406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651760" y="468172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51760" y="468172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53" name="Text 51"/>
          <p:cNvSpPr/>
          <p:nvPr/>
        </p:nvSpPr>
        <p:spPr>
          <a:xfrm>
            <a:off x="2651760" y="46817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743200" y="508406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047488" y="468172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47488" y="468172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4338CA"/>
          </a:solidFill>
          <a:ln/>
        </p:spPr>
      </p:sp>
      <p:sp>
        <p:nvSpPr>
          <p:cNvPr id="57" name="Text 55"/>
          <p:cNvSpPr/>
          <p:nvPr/>
        </p:nvSpPr>
        <p:spPr>
          <a:xfrm>
            <a:off x="5047488" y="46817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138928" y="508406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IaC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443216" y="468172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43216" y="468172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D97706"/>
          </a:solidFill>
          <a:ln/>
        </p:spPr>
      </p:sp>
      <p:sp>
        <p:nvSpPr>
          <p:cNvPr id="61" name="Text 59"/>
          <p:cNvSpPr/>
          <p:nvPr/>
        </p:nvSpPr>
        <p:spPr>
          <a:xfrm>
            <a:off x="7443216" y="46817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534656" y="508406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Mgmt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838944" y="4681728"/>
            <a:ext cx="22402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838944" y="4681728"/>
            <a:ext cx="2240280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/>
        </p:spPr>
      </p:sp>
      <p:sp>
        <p:nvSpPr>
          <p:cNvPr id="65" name="Text 63"/>
          <p:cNvSpPr/>
          <p:nvPr/>
        </p:nvSpPr>
        <p:spPr>
          <a:xfrm>
            <a:off x="9838944" y="46817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A15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930384" y="508406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274320" y="6446520"/>
            <a:ext cx="1170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A01 &amp; A08 — Extended Thinking (claude-sonnet-4-5)  ·  All agents — Prompt Caching  ·  A09/A10/A11 — 8K output / 200K context  ·  GPT-4o fallback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0" y="6720840"/>
            <a:ext cx="1219200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9" name="Text 67"/>
          <p:cNvSpPr/>
          <p:nvPr/>
        </p:nvSpPr>
        <p:spPr>
          <a:xfrm>
            <a:off x="274320" y="673912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Diamond Project  ·  Zensar Technologies  ·  CONFIDENTIAL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601200" y="67391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Zensar Technologies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109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AI-native · React · Express · PostgreSQL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1978640" cy="969264"/>
          </a:xfrm>
          <a:prstGeom prst="roundRect">
            <a:avLst>
              <a:gd name="adj" fmla="val 6604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" y="1298448"/>
            <a:ext cx="1298448" cy="512064"/>
          </a:xfrm>
          <a:prstGeom prst="roundRect">
            <a:avLst>
              <a:gd name="adj" fmla="val 10714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" y="1298448"/>
            <a:ext cx="1298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37360" y="1261872"/>
            <a:ext cx="10378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Claude: claude-opus-4-5 (standard) · claude-sonnet-4-5 (Extended Thinking A01/A08)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@anthropic-ai/sdk v0.111.0 · Prompt Caching (ephemeral) · SSE streaming · GPT-4o fallback · Ollama (offline)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267712"/>
            <a:ext cx="11978640" cy="969264"/>
          </a:xfrm>
          <a:prstGeom prst="roundRect">
            <a:avLst>
              <a:gd name="adj" fmla="val 6604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" y="2377440"/>
            <a:ext cx="1298448" cy="512064"/>
          </a:xfrm>
          <a:prstGeom prst="roundRect">
            <a:avLst>
              <a:gd name="adj" fmla="val 10714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2377440"/>
            <a:ext cx="1298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37360" y="2340864"/>
            <a:ext cx="10378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· React Flow v11 (agent canvas) · TanStack Query v5 · Tailwind CSS v3 + shadcn/ui · Wouter routing · Vite 5 · ReadableStream SSE consumer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346704"/>
            <a:ext cx="11978640" cy="969264"/>
          </a:xfrm>
          <a:prstGeom prst="roundRect">
            <a:avLst>
              <a:gd name="adj" fmla="val 6604"/>
            </a:avLst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" y="3456432"/>
            <a:ext cx="1298448" cy="512064"/>
          </a:xfrm>
          <a:prstGeom prst="roundRect">
            <a:avLst>
              <a:gd name="adj" fmla="val 10714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" y="3456432"/>
            <a:ext cx="1298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37360" y="3419856"/>
            <a:ext cx="10378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+ TypeScript · Node 20 LTS · Multer (50 MB ZIP upload) · Drizzle ORM · express-session + bcrypt · SSE endpoint (text/event-stream) · GitHub REST API v3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425696"/>
            <a:ext cx="11978640" cy="969264"/>
          </a:xfrm>
          <a:prstGeom prst="roundRect">
            <a:avLst>
              <a:gd name="adj" fmla="val 6604"/>
            </a:avLst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" y="4535424"/>
            <a:ext cx="1298448" cy="512064"/>
          </a:xfrm>
          <a:prstGeom prst="roundRect">
            <a:avLst>
              <a:gd name="adj" fmla="val 10714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" y="4535424"/>
            <a:ext cx="1298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37360" y="4498848"/>
            <a:ext cx="10378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Drizzle Kit migrations · MemoryStore fallback for dev · Tables: projects, sourceFiles, cweScan, qualityMetrics, customPatterns, sessions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5504688"/>
            <a:ext cx="11978640" cy="969264"/>
          </a:xfrm>
          <a:prstGeom prst="roundRect">
            <a:avLst>
              <a:gd name="adj" fmla="val 6604"/>
            </a:avLst>
          </a:prstGeom>
          <a:solidFill>
            <a:srgbClr val="CFFA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" y="5614416"/>
            <a:ext cx="1298448" cy="512064"/>
          </a:xfrm>
          <a:prstGeom prst="roundRect">
            <a:avLst>
              <a:gd name="adj" fmla="val 10714"/>
            </a:avLst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310896" y="5614416"/>
            <a:ext cx="12984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37360" y="5577840"/>
            <a:ext cx="10378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5055 quality engine · 30+ CWE rules (OWASP Top 10) · Demographic PII/PHI scanner · Mermaid.js · Graphviz · Cytoscape.js dependency graphs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6720840"/>
            <a:ext cx="1219200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673912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Diamond Project  ·  Zensar Technologies  ·  CONFIDENTIAL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601200" y="67391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Zensar Technologies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109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Nucleus 2.0 unique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58521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3167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1316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131673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71907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&amp; project context cached via Anthropic ephemeral cache_control — up to 90% cost reduction on repeated runs.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0" y="1188720"/>
            <a:ext cx="58521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28816" y="13167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4338CA"/>
          </a:solidFill>
          <a:ln/>
        </p:spPr>
      </p:sp>
      <p:sp>
        <p:nvSpPr>
          <p:cNvPr id="14" name="Text 12"/>
          <p:cNvSpPr/>
          <p:nvPr/>
        </p:nvSpPr>
        <p:spPr>
          <a:xfrm>
            <a:off x="6528816" y="1316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95160" y="131673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28816" y="1719072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 &amp; A08 use claude-sonnet-4-5 with thinking.budget_tokens — visible chain-of-thought streamed live to the Activity tab.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578608"/>
            <a:ext cx="58521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2706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" y="2706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270662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Context Window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" y="310896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Code-heavy agents get 8K output + 200K input — entire repos analysed in a single API call, no chunking required.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2578608"/>
            <a:ext cx="58521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28816" y="2706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528816" y="2706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270662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SSE Streaming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28816" y="310896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output: Claude → Express SSE → React ReadableStream → dark terminal Activity tab with blinking cursor.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968496"/>
            <a:ext cx="58521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2336" y="4096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" y="40965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Agent Canvas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" y="44988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A01–A15 onto a React Flow canvas, wire execution order, configure each agent — no YAML, no CLI, no code.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3968496"/>
            <a:ext cx="58521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28816" y="409651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6528816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95160" y="40965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28816" y="4498848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any public/private repo, analyse structure, generate artefacts (tests, IaC, docs) and push files back in one click.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5358384"/>
            <a:ext cx="58521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" y="54864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402336" y="5486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" y="54864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Compliance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02336" y="5888736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 Policy Agent enforces GDPR, PCI-DSS, SOX, HIPAA at every gate. PII/PHI demographic scanner across all source files.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0" y="5358384"/>
            <a:ext cx="585216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28816" y="54864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475569"/>
          </a:solidFill>
          <a:ln/>
        </p:spPr>
      </p:sp>
      <p:sp>
        <p:nvSpPr>
          <p:cNvPr id="44" name="Text 42"/>
          <p:cNvSpPr/>
          <p:nvPr/>
        </p:nvSpPr>
        <p:spPr>
          <a:xfrm>
            <a:off x="6528816" y="5486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95160" y="54864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Air-gapped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28816" y="5888736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integration with Code Llama / Mistral — zero data leaves the network, suited for restricted banking environments.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6720840"/>
            <a:ext cx="1219200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673912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Diamond Project  ·  Zensar Technologies  ·  CONFIDENTIAL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9601200" y="67391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Zensar Technologies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109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Benefits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Nucleus 2.0 moves the needle for enterprise delivery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990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85623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496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time-to-market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 execution and automated artefact generation compress sprint cycles from weeks to hours.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0" y="12344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3990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97680" y="185623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434840" y="2496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AI inference cost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34840" y="283464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eliminates redundant token processing — system context paid once, reused across every agent call.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321040" y="12344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3990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21040" y="185623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458200" y="2496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coverage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58200" y="283464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 gates every stage — no artefact proceeds without passing GDPR / PCI-DSS / HIPAA checks.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84048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005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74320" y="446227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11480" y="51023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throughput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54406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focus on review; agents handle generation, documentation and test scaffolding automatically.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97680" y="384048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4005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297680" y="446227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434840" y="51023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434840" y="54406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GPT-4o and local Ollama are all first-class — swap AI provider without changing agent config.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321040" y="384048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005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321040" y="446227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8458200" y="51023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specialists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458200" y="544068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one SDLC concern — no prompt bloat, no context collisions, predictable output quality.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6720840"/>
            <a:ext cx="1219200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673912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Diamond Project  ·  Zensar Technologies  ·  CONFIDENTIAL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601200" y="67391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Zensar Technologies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10972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2.0  vs  GitHub Copilot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" y="6217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scope — Nucleus handles the whole SDLC, Copilot handles the 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03320" y="1115568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1155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Nucleus 2.0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1115568"/>
            <a:ext cx="4297680" cy="438912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0" y="111556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 GitHub Copilot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664208"/>
            <a:ext cx="12618720" cy="3794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664208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0" y="1664208"/>
            <a:ext cx="4023360" cy="3794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1664208"/>
            <a:ext cx="39319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SDLC (15 agents, 62 activities)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18120" y="1664208"/>
            <a:ext cx="4251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code completion &amp; chat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043684"/>
            <a:ext cx="12618720" cy="3794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043684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0" y="2043684"/>
            <a:ext cx="4023360" cy="379476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2043684"/>
            <a:ext cx="39319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opus-4-5 / sonnet-4-5 + GPT-4o + Ollama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18120" y="2043684"/>
            <a:ext cx="4251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/ GPT-4o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423160"/>
            <a:ext cx="12618720" cy="3794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423160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0" y="2423160"/>
            <a:ext cx="4023360" cy="3794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2423160"/>
            <a:ext cx="39319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tokens (full codebase in one call)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18120" y="2423160"/>
            <a:ext cx="4251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~8K tokens (file/function)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2802636"/>
            <a:ext cx="12618720" cy="3794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802636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0" y="2802636"/>
            <a:ext cx="4023360" cy="379476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9" name="Text 27"/>
          <p:cNvSpPr/>
          <p:nvPr/>
        </p:nvSpPr>
        <p:spPr>
          <a:xfrm>
            <a:off x="3703320" y="2802636"/>
            <a:ext cx="39319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Up to 90% cost reduction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18120" y="2802636"/>
            <a:ext cx="4251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exposed to users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182112"/>
            <a:ext cx="12618720" cy="3794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182112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0" y="3182112"/>
            <a:ext cx="4023360" cy="3794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4" name="Text 32"/>
          <p:cNvSpPr/>
          <p:nvPr/>
        </p:nvSpPr>
        <p:spPr>
          <a:xfrm>
            <a:off x="3703320" y="3182112"/>
            <a:ext cx="39319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A01 &amp; A08 chain-of-thought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18120" y="3182112"/>
            <a:ext cx="4251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available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3561588"/>
            <a:ext cx="12618720" cy="3794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3561588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Output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0" y="3561588"/>
            <a:ext cx="4023360" cy="379476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9" name="Text 37"/>
          <p:cNvSpPr/>
          <p:nvPr/>
        </p:nvSpPr>
        <p:spPr>
          <a:xfrm>
            <a:off x="3703320" y="3561588"/>
            <a:ext cx="39319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SSE token stream to UI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18120" y="3561588"/>
            <a:ext cx="4251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In-IDE ghost text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3941064"/>
            <a:ext cx="12618720" cy="3794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3941064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Gates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0" y="3941064"/>
            <a:ext cx="4023360" cy="3794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4" name="Text 42"/>
          <p:cNvSpPr/>
          <p:nvPr/>
        </p:nvSpPr>
        <p:spPr>
          <a:xfrm>
            <a:off x="3703320" y="3941064"/>
            <a:ext cx="39319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GDPR, PCI-DSS, SOX, HIPAA (A02)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18120" y="3941064"/>
            <a:ext cx="4251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4320540"/>
            <a:ext cx="12618720" cy="3794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320540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Local AI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0" y="4320540"/>
            <a:ext cx="4023360" cy="379476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49" name="Text 47"/>
          <p:cNvSpPr/>
          <p:nvPr/>
        </p:nvSpPr>
        <p:spPr>
          <a:xfrm>
            <a:off x="3703320" y="4320540"/>
            <a:ext cx="39319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Ollama (Code Llama / Mistral)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818120" y="4320540"/>
            <a:ext cx="4251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Cloud only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28600" y="4700016"/>
            <a:ext cx="12618720" cy="3794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4700016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Artefacts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0" y="4700016"/>
            <a:ext cx="4023360" cy="3794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4" name="Text 52"/>
          <p:cNvSpPr/>
          <p:nvPr/>
        </p:nvSpPr>
        <p:spPr>
          <a:xfrm>
            <a:off x="3703320" y="4700016"/>
            <a:ext cx="39319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tests, IaC, docs, reports, pipelines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18120" y="4700016"/>
            <a:ext cx="4251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snippets only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8600" y="5079492"/>
            <a:ext cx="12618720" cy="3794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5079492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657600" y="5079492"/>
            <a:ext cx="4023360" cy="379476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59" name="Text 57"/>
          <p:cNvSpPr/>
          <p:nvPr/>
        </p:nvSpPr>
        <p:spPr>
          <a:xfrm>
            <a:off x="3703320" y="5079492"/>
            <a:ext cx="39319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Auto-push generated files to repo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818120" y="5079492"/>
            <a:ext cx="4251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 suggestions via Copilot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28600" y="5458968"/>
            <a:ext cx="12618720" cy="3794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5458968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657600" y="5458968"/>
            <a:ext cx="4023360" cy="379476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64" name="Text 62"/>
          <p:cNvSpPr/>
          <p:nvPr/>
        </p:nvSpPr>
        <p:spPr>
          <a:xfrm>
            <a:off x="3703320" y="5458968"/>
            <a:ext cx="39319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/ enterprise SaaS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818120" y="5458968"/>
            <a:ext cx="4251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/ Enterprise Cloud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28600" y="5838444"/>
            <a:ext cx="12618720" cy="37947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7" name="Text 65"/>
          <p:cNvSpPr/>
          <p:nvPr/>
        </p:nvSpPr>
        <p:spPr>
          <a:xfrm>
            <a:off x="274320" y="5838444"/>
            <a:ext cx="33375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57600" y="5838444"/>
            <a:ext cx="4023360" cy="379476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69" name="Text 67"/>
          <p:cNvSpPr/>
          <p:nvPr/>
        </p:nvSpPr>
        <p:spPr>
          <a:xfrm>
            <a:off x="3703320" y="5838444"/>
            <a:ext cx="393192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leads, architects, PMs, teams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7818120" y="5838444"/>
            <a:ext cx="4251960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developers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0" y="1664208"/>
            <a:ext cx="0" cy="45537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726680" y="1664208"/>
            <a:ext cx="0" cy="45537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0" y="6720840"/>
            <a:ext cx="1219200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4" name="Text 72"/>
          <p:cNvSpPr/>
          <p:nvPr/>
        </p:nvSpPr>
        <p:spPr>
          <a:xfrm>
            <a:off x="274320" y="673912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Diamond Project  ·  Zensar Technologies  ·  CONFIDENTIAL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601200" y="67391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Zensar Technologies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-731520"/>
            <a:ext cx="3657600" cy="36576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5029200"/>
            <a:ext cx="2286000" cy="2286000"/>
          </a:xfrm>
          <a:prstGeom prst="ellipse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Deploy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2.0 — Agentic SDLC Framework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2926080" cy="411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7860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Add ANTHROPIC_API_KEY to project secrets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054096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Open the ZenseAI Agent Factory canvas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52958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Drag agents A01–A15 · wire execution order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00507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Set system prompts · paste codebase context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Hit ▶ Run — watch tokens stream live in Activity tab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docs.anthropic.com/en/api/getting-started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5532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console.anthropic.com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6217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Diamond Project  ·  Zensar Technologies  · 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720840"/>
            <a:ext cx="1219200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673912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AMEX Diamond Project  ·  Zensar Technologies  ·  CONFIDENTIAL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601200" y="67391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Zensar Technologies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Nucleus 2.0 — Agentic SDLC Framework</dc:title>
  <dc:subject>AMEX Diamond Project · Zensar Technologies</dc:subject>
  <dc:creator>Zensar Diamond Team</dc:creator>
  <cp:lastModifiedBy>Zensar Diamond Team</cp:lastModifiedBy>
  <cp:revision>1</cp:revision>
  <dcterms:created xsi:type="dcterms:W3CDTF">2026-07-13T17:47:59Z</dcterms:created>
  <dcterms:modified xsi:type="dcterms:W3CDTF">2026-07-13T17:47:59Z</dcterms:modified>
</cp:coreProperties>
</file>